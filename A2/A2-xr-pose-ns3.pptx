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634B39-34D6-491E-ACCB-F3D1C36D09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C26F2E-F1CE-45BE-A124-8B5439D158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ED7D4F-5A6A-42D2-8813-B748F34F07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94DA51-2086-4814-AD1A-1F3D411293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DCDEAE-7BB9-44C9-97EE-90E2FD8CC3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A34F54-E2A7-45B8-A5C6-2EFADC2CD1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DF3734-F435-42B3-9702-BA7926E36E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5BAE1F-2708-489B-AE53-5531C427AF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8E861A-0CC8-44E2-A269-E522A996C6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8A8A3A-7617-4CF4-8B1C-6B0A774B24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CDBEFC-33E4-42F4-B855-D5E03024EC8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7AFD85-A6C5-45FB-BB77-098787F2FC4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A9ED867-65AD-4B79-BC01-360BC3668A2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</p:sp>
      <p:sp>
        <p:nvSpPr>
          <p:cNvPr id="44" name=""/>
          <p:cNvSpPr/>
          <p:nvPr/>
        </p:nvSpPr>
        <p:spPr>
          <a:xfrm>
            <a:off x="0" y="0"/>
            <a:ext cx="396000" cy="6858000"/>
          </a:xfrm>
          <a:prstGeom prst="rect">
            <a:avLst/>
          </a:prstGeom>
          <a:solidFill>
            <a:srgbClr val="2cb1bc"/>
          </a:solidFill>
          <a:ln w="0">
            <a:noFill/>
          </a:ln>
        </p:spPr>
      </p:sp>
      <p:sp>
        <p:nvSpPr>
          <p:cNvPr id="45" name=""/>
          <p:cNvSpPr txBox="1"/>
          <p:nvPr/>
        </p:nvSpPr>
        <p:spPr>
          <a:xfrm>
            <a:off x="882000" y="828000"/>
            <a:ext cx="1620000" cy="39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200" spc="-1" strike="noStrike">
                <a:solidFill>
                  <a:srgbClr val="2cb1bc"/>
                </a:solidFill>
                <a:latin typeface="Arial"/>
              </a:rPr>
              <a:t>A2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82000" y="1386000"/>
            <a:ext cx="990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400" spc="-1" strike="noStrike">
                <a:solidFill>
                  <a:srgbClr val="ffffff"/>
                </a:solidFill>
                <a:latin typeface="Arial"/>
              </a:rPr>
              <a:t>ns-3 Setup &amp;</a:t>
            </a:r>
            <a:endParaRPr b="0" lang="en-US" sz="3400" spc="-1" strike="noStrike">
              <a:latin typeface="Arial"/>
            </a:endParaRPr>
          </a:p>
          <a:p>
            <a:r>
              <a:rPr b="1" lang="en-US" sz="3400" spc="-1" strike="noStrike">
                <a:solidFill>
                  <a:srgbClr val="ffffff"/>
                </a:solidFill>
                <a:latin typeface="Arial"/>
              </a:rPr>
              <a:t>3GPP XR Pose Traffic Model</a:t>
            </a:r>
            <a:endParaRPr b="0" lang="en-US" sz="3400" spc="-1" strike="noStrike"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900000" y="2916000"/>
            <a:ext cx="936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d9eaf2"/>
                </a:solidFill>
                <a:latin typeface="Arial"/>
              </a:rPr>
              <a:t>A deterministic uplink baseline based on 3GPP TR 26.926 §5.9.2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900000" y="3636000"/>
            <a:ext cx="3096000" cy="21600"/>
          </a:xfrm>
          <a:prstGeom prst="rect">
            <a:avLst/>
          </a:prstGeom>
          <a:solidFill>
            <a:srgbClr val="2cb1bc"/>
          </a:solidFill>
          <a:ln w="0">
            <a:noFill/>
          </a:ln>
        </p:spPr>
      </p:sp>
      <p:sp>
        <p:nvSpPr>
          <p:cNvPr id="49" name=""/>
          <p:cNvSpPr txBox="1"/>
          <p:nvPr/>
        </p:nvSpPr>
        <p:spPr>
          <a:xfrm>
            <a:off x="900000" y="4068000"/>
            <a:ext cx="5760000" cy="2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ffffff"/>
                </a:solidFill>
                <a:latin typeface="Arial"/>
              </a:rPr>
              <a:t>[Your Name]  ·  [Student ID]</a:t>
            </a:r>
            <a:endParaRPr b="0" lang="en-US" sz="1700" spc="-1" strike="noStrike"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900000" y="4428000"/>
            <a:ext cx="5760000" cy="2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300" spc="-1" strike="noStrike">
                <a:solidFill>
                  <a:srgbClr val="b8d4e3"/>
                </a:solidFill>
                <a:latin typeface="Arial"/>
              </a:rPr>
              <a:t>Week 7 · 10-minute presentation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900000" y="5976000"/>
            <a:ext cx="82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b8d4e3"/>
                </a:solidFill>
                <a:latin typeface="Arial"/>
              </a:rPr>
              <a:t>ns-3.44  |  Ubuntu 22.04.5 LTS  |  x86-64</a:t>
            </a:r>
            <a:endParaRPr b="0" lang="en-US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53" name=""/>
          <p:cNvSpPr/>
          <p:nvPr/>
        </p:nvSpPr>
        <p:spPr>
          <a:xfrm>
            <a:off x="0" y="0"/>
            <a:ext cx="306000" cy="685800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</p:sp>
      <p:sp>
        <p:nvSpPr>
          <p:cNvPr id="54" name=""/>
          <p:cNvSpPr txBox="1"/>
          <p:nvPr/>
        </p:nvSpPr>
        <p:spPr>
          <a:xfrm>
            <a:off x="612000" y="259200"/>
            <a:ext cx="972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1677b8"/>
                </a:solidFill>
                <a:latin typeface="Arial"/>
              </a:rPr>
              <a:t>ENVIRONMENT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12000" y="450000"/>
            <a:ext cx="10620000" cy="41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102a43"/>
                </a:solidFill>
                <a:latin typeface="Arial"/>
              </a:rPr>
              <a:t>Setup and reproducibility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612000" y="921600"/>
            <a:ext cx="10800000" cy="9000"/>
          </a:xfrm>
          <a:prstGeom prst="rect">
            <a:avLst/>
          </a:prstGeom>
          <a:solidFill>
            <a:srgbClr val="eaf4fa"/>
          </a:solidFill>
          <a:ln w="0">
            <a:noFill/>
          </a:ln>
        </p:spPr>
      </p:sp>
      <p:sp>
        <p:nvSpPr>
          <p:cNvPr id="57" name=""/>
          <p:cNvSpPr txBox="1"/>
          <p:nvPr/>
        </p:nvSpPr>
        <p:spPr>
          <a:xfrm>
            <a:off x="612000" y="6526800"/>
            <a:ext cx="432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27d98"/>
                </a:solidFill>
                <a:latin typeface="Arial"/>
              </a:rPr>
              <a:t>A2 · ns-3 Setup &amp; Traffic Model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1016000" y="6487200"/>
            <a:ext cx="396000" cy="15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627d98"/>
                </a:solidFill>
                <a:latin typeface="Arial"/>
              </a:rPr>
              <a:t>02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48000" y="1188000"/>
            <a:ext cx="3168000" cy="918000"/>
          </a:xfrm>
          <a:prstGeom prst="roundRect">
            <a:avLst/>
          </a:prstGeom>
          <a:solidFill>
            <a:srgbClr val="f5f8fa"/>
          </a:solidFill>
          <a:ln w="10800">
            <a:solidFill>
              <a:srgbClr val="eaf4fa"/>
            </a:solidFill>
            <a:round/>
          </a:ln>
        </p:spPr>
      </p:sp>
      <p:sp>
        <p:nvSpPr>
          <p:cNvPr id="60" name=""/>
          <p:cNvSpPr/>
          <p:nvPr/>
        </p:nvSpPr>
        <p:spPr>
          <a:xfrm>
            <a:off x="648000" y="1188000"/>
            <a:ext cx="61200" cy="918000"/>
          </a:xfrm>
          <a:prstGeom prst="roundRect">
            <a:avLst/>
          </a:prstGeom>
          <a:solidFill>
            <a:srgbClr val="1677b8"/>
          </a:solidFill>
          <a:ln w="0">
            <a:noFill/>
          </a:ln>
        </p:spPr>
      </p:sp>
      <p:sp>
        <p:nvSpPr>
          <p:cNvPr id="61" name=""/>
          <p:cNvSpPr txBox="1"/>
          <p:nvPr/>
        </p:nvSpPr>
        <p:spPr>
          <a:xfrm>
            <a:off x="835200" y="1324800"/>
            <a:ext cx="2898000" cy="25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500" spc="-1" strike="noStrike">
                <a:solidFill>
                  <a:srgbClr val="102a43"/>
                </a:solidFill>
                <a:latin typeface="Arial"/>
              </a:rPr>
              <a:t>ns-3.44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35200" y="1612800"/>
            <a:ext cx="2898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627d98"/>
                </a:solidFill>
                <a:latin typeface="Arial"/>
              </a:rPr>
              <a:t>Simulator version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4176000" y="1188000"/>
            <a:ext cx="3168000" cy="918000"/>
          </a:xfrm>
          <a:prstGeom prst="roundRect">
            <a:avLst/>
          </a:prstGeom>
          <a:solidFill>
            <a:srgbClr val="f5f8fa"/>
          </a:solidFill>
          <a:ln w="10800">
            <a:solidFill>
              <a:srgbClr val="eaf4fa"/>
            </a:solidFill>
            <a:round/>
          </a:ln>
        </p:spPr>
      </p:sp>
      <p:sp>
        <p:nvSpPr>
          <p:cNvPr id="64" name=""/>
          <p:cNvSpPr/>
          <p:nvPr/>
        </p:nvSpPr>
        <p:spPr>
          <a:xfrm>
            <a:off x="4176000" y="1188000"/>
            <a:ext cx="61200" cy="918000"/>
          </a:xfrm>
          <a:prstGeom prst="roundRect">
            <a:avLst/>
          </a:prstGeom>
          <a:solidFill>
            <a:srgbClr val="2cb1bc"/>
          </a:solidFill>
          <a:ln w="0">
            <a:noFill/>
          </a:ln>
        </p:spPr>
      </p:sp>
      <p:sp>
        <p:nvSpPr>
          <p:cNvPr id="65" name=""/>
          <p:cNvSpPr txBox="1"/>
          <p:nvPr/>
        </p:nvSpPr>
        <p:spPr>
          <a:xfrm>
            <a:off x="4363200" y="1324800"/>
            <a:ext cx="2898000" cy="25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500" spc="-1" strike="noStrike">
                <a:solidFill>
                  <a:srgbClr val="102a43"/>
                </a:solidFill>
                <a:latin typeface="Arial"/>
              </a:rPr>
              <a:t>Ubuntu 22.04.5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363200" y="1612800"/>
            <a:ext cx="2898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627d98"/>
                </a:solidFill>
                <a:latin typeface="Arial"/>
              </a:rPr>
              <a:t>Linux platform · x86-64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7704000" y="1188000"/>
            <a:ext cx="3600000" cy="918000"/>
          </a:xfrm>
          <a:prstGeom prst="roundRect">
            <a:avLst/>
          </a:prstGeom>
          <a:solidFill>
            <a:srgbClr val="f5f8fa"/>
          </a:solidFill>
          <a:ln w="10800">
            <a:solidFill>
              <a:srgbClr val="eaf4fa"/>
            </a:solidFill>
            <a:round/>
          </a:ln>
        </p:spPr>
      </p:sp>
      <p:sp>
        <p:nvSpPr>
          <p:cNvPr id="68" name=""/>
          <p:cNvSpPr/>
          <p:nvPr/>
        </p:nvSpPr>
        <p:spPr>
          <a:xfrm>
            <a:off x="7704000" y="1188000"/>
            <a:ext cx="61200" cy="918000"/>
          </a:xfrm>
          <a:prstGeom prst="round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69" name=""/>
          <p:cNvSpPr txBox="1"/>
          <p:nvPr/>
        </p:nvSpPr>
        <p:spPr>
          <a:xfrm>
            <a:off x="7891200" y="1324800"/>
            <a:ext cx="3330000" cy="25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500" spc="-1" strike="noStrike">
                <a:solidFill>
                  <a:srgbClr val="102a43"/>
                </a:solidFill>
                <a:latin typeface="Arial"/>
              </a:rPr>
              <a:t>60 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7891200" y="1612800"/>
            <a:ext cx="3330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627d98"/>
                </a:solidFill>
                <a:latin typeface="Arial"/>
              </a:rPr>
              <a:t>Traffic duration · 6,000 packets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84000" y="2520000"/>
            <a:ext cx="2520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Arial"/>
              </a:rPr>
              <a:t>Build and run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84000" y="2808000"/>
            <a:ext cx="6660000" cy="1008000"/>
          </a:xfrm>
          <a:prstGeom prst="rect">
            <a:avLst/>
          </a:prstGeom>
          <a:solidFill>
            <a:srgbClr val="102a43"/>
          </a:solidFill>
          <a:ln w="10800">
            <a:solidFill>
              <a:srgbClr val="102a43"/>
            </a:solidFill>
            <a:round/>
          </a:ln>
        </p:spPr>
        <p:txBody>
          <a:bodyPr lIns="95400" rIns="95400" tIns="50400" bIns="50400" anchor="t">
            <a:noAutofit/>
          </a:bodyPr>
          <a:p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$ ./ns3 build xr-pose-uplink</a:t>
            </a:r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$ ./ns3 run xr-pose-uplink</a:t>
            </a:r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$ python3 scratch/plot-xr-pose-results.py --prefix xr-pose-uplink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7920000" y="2520000"/>
            <a:ext cx="3060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Arial"/>
              </a:rPr>
              <a:t>What broke?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7920000" y="2808000"/>
            <a:ext cx="3240000" cy="1080000"/>
          </a:xfrm>
          <a:prstGeom prst="rect">
            <a:avLst/>
          </a:prstGeom>
          <a:solidFill>
            <a:srgbClr val="f5f8fa"/>
          </a:solidFill>
          <a:ln w="10800">
            <a:solidFill>
              <a:srgbClr val="eaf4fa"/>
            </a:solidFill>
            <a:round/>
          </a:ln>
        </p:spPr>
        <p:txBody>
          <a:bodyPr lIns="95400" rIns="95400" tIns="50400" bIns="50400" anchor="t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Arial"/>
              </a:rPr>
              <a:t>Restricted ccache directory</a:t>
            </a:r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Arial"/>
              </a:rPr>
              <a:t>→ </a:t>
            </a:r>
            <a:r>
              <a:rPr b="0" lang="en-US" sz="1500" spc="-1" strike="noStrike">
                <a:solidFill>
                  <a:srgbClr val="243b53"/>
                </a:solidFill>
                <a:latin typeface="Arial"/>
              </a:rPr>
              <a:t>built with CCACHE_DISABLE=1</a:t>
            </a:r>
            <a:endParaRPr b="0" lang="en-US" sz="1500" spc="-1" strike="noStrike">
              <a:latin typeface="Arial"/>
            </a:endParaRPr>
          </a:p>
          <a:p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Arial"/>
              </a:rPr>
              <a:t>Matplotlib GUI warnings</a:t>
            </a:r>
            <a:endParaRPr b="0" lang="en-US" sz="1500" spc="-1" strike="noStrike">
              <a:latin typeface="Arial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Arial"/>
              </a:rPr>
              <a:t>→ </a:t>
            </a:r>
            <a:r>
              <a:rPr b="0" lang="en-US" sz="1500" spc="-1" strike="noStrike">
                <a:solidFill>
                  <a:srgbClr val="243b53"/>
                </a:solidFill>
                <a:latin typeface="Arial"/>
              </a:rPr>
              <a:t>switched plotting backend to Agg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76" name=""/>
          <p:cNvSpPr/>
          <p:nvPr/>
        </p:nvSpPr>
        <p:spPr>
          <a:xfrm>
            <a:off x="0" y="0"/>
            <a:ext cx="306000" cy="685800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</p:sp>
      <p:sp>
        <p:nvSpPr>
          <p:cNvPr id="77" name=""/>
          <p:cNvSpPr txBox="1"/>
          <p:nvPr/>
        </p:nvSpPr>
        <p:spPr>
          <a:xfrm>
            <a:off x="612000" y="259200"/>
            <a:ext cx="972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1677b8"/>
                </a:solidFill>
                <a:latin typeface="Arial"/>
              </a:rPr>
              <a:t>TRAFFIC MODEL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612000" y="450000"/>
            <a:ext cx="10620000" cy="41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102a43"/>
                </a:solidFill>
                <a:latin typeface="Arial"/>
              </a:rPr>
              <a:t>3GPP Pose uplink model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12000" y="921600"/>
            <a:ext cx="10800000" cy="9000"/>
          </a:xfrm>
          <a:prstGeom prst="rect">
            <a:avLst/>
          </a:prstGeom>
          <a:solidFill>
            <a:srgbClr val="eaf4fa"/>
          </a:solidFill>
          <a:ln w="0">
            <a:noFill/>
          </a:ln>
        </p:spPr>
      </p:sp>
      <p:sp>
        <p:nvSpPr>
          <p:cNvPr id="80" name=""/>
          <p:cNvSpPr txBox="1"/>
          <p:nvPr/>
        </p:nvSpPr>
        <p:spPr>
          <a:xfrm>
            <a:off x="612000" y="6526800"/>
            <a:ext cx="432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27d98"/>
                </a:solidFill>
                <a:latin typeface="Arial"/>
              </a:rPr>
              <a:t>A2 · ns-3 Setup &amp; Traffic Model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1016000" y="6487200"/>
            <a:ext cx="396000" cy="15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627d98"/>
                </a:solidFill>
                <a:latin typeface="Arial"/>
              </a:rPr>
              <a:t>03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666000" y="1206000"/>
            <a:ext cx="4680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102a43"/>
                </a:solidFill>
                <a:latin typeface="Arial"/>
              </a:rPr>
              <a:t>Specified by §5.9.2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684000" y="1641600"/>
            <a:ext cx="57600" cy="57600"/>
          </a:xfrm>
          <a:prstGeom prst="roundRect">
            <a:avLst/>
          </a:prstGeom>
          <a:solidFill>
            <a:srgbClr val="1677b8"/>
          </a:solidFill>
          <a:ln w="0">
            <a:noFill/>
          </a:ln>
        </p:spPr>
      </p:sp>
      <p:sp>
        <p:nvSpPr>
          <p:cNvPr id="84" name=""/>
          <p:cNvSpPr txBox="1"/>
          <p:nvPr/>
        </p:nvSpPr>
        <p:spPr>
          <a:xfrm>
            <a:off x="835200" y="1566000"/>
            <a:ext cx="5068800" cy="73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43b53"/>
                </a:solidFill>
                <a:latin typeface="Arial"/>
              </a:rPr>
              <a:t>Pose is available to the application every 1 ms (1 kHz).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84000" y="2397600"/>
            <a:ext cx="57600" cy="57600"/>
          </a:xfrm>
          <a:prstGeom prst="roundRect">
            <a:avLst/>
          </a:prstGeom>
          <a:solidFill>
            <a:srgbClr val="1677b8"/>
          </a:solidFill>
          <a:ln w="0">
            <a:noFill/>
          </a:ln>
        </p:spPr>
      </p:sp>
      <p:sp>
        <p:nvSpPr>
          <p:cNvPr id="86" name=""/>
          <p:cNvSpPr txBox="1"/>
          <p:nvPr/>
        </p:nvSpPr>
        <p:spPr>
          <a:xfrm>
            <a:off x="835200" y="2322000"/>
            <a:ext cx="5068800" cy="73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43b53"/>
                </a:solidFill>
                <a:latin typeface="Arial"/>
              </a:rPr>
              <a:t>Each IP packet is 100 bytes: 60-byte payload + 40-byte headers.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84000" y="3153600"/>
            <a:ext cx="57600" cy="57600"/>
          </a:xfrm>
          <a:prstGeom prst="roundRect">
            <a:avLst/>
          </a:prstGeom>
          <a:solidFill>
            <a:srgbClr val="1677b8"/>
          </a:solidFill>
          <a:ln w="0">
            <a:noFill/>
          </a:ln>
        </p:spPr>
      </p:sp>
      <p:sp>
        <p:nvSpPr>
          <p:cNvPr id="88" name=""/>
          <p:cNvSpPr txBox="1"/>
          <p:nvPr/>
        </p:nvSpPr>
        <p:spPr>
          <a:xfrm>
            <a:off x="835200" y="3078000"/>
            <a:ext cx="5068800" cy="73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43b53"/>
                </a:solidFill>
                <a:latin typeface="Arial"/>
              </a:rPr>
              <a:t>The latest pose is reported every 10 ms (100 Hz).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84000" y="3909600"/>
            <a:ext cx="57600" cy="57600"/>
          </a:xfrm>
          <a:prstGeom prst="roundRect">
            <a:avLst/>
          </a:prstGeom>
          <a:solidFill>
            <a:srgbClr val="1677b8"/>
          </a:solidFill>
          <a:ln w="0">
            <a:noFill/>
          </a:ln>
        </p:spPr>
      </p:sp>
      <p:sp>
        <p:nvSpPr>
          <p:cNvPr id="90" name=""/>
          <p:cNvSpPr txBox="1"/>
          <p:nvPr/>
        </p:nvSpPr>
        <p:spPr>
          <a:xfrm>
            <a:off x="835200" y="3834000"/>
            <a:ext cx="5068800" cy="73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43b53"/>
                </a:solidFill>
                <a:latin typeface="Arial"/>
              </a:rPr>
              <a:t>Target uplink latency is no greater than 10 ms.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6480000" y="1206000"/>
            <a:ext cx="4680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102a43"/>
                </a:solidFill>
                <a:latin typeface="Arial"/>
              </a:rPr>
              <a:t>Experimental choices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480000" y="1641600"/>
            <a:ext cx="57600" cy="57600"/>
          </a:xfrm>
          <a:prstGeom prst="roundRect">
            <a:avLst/>
          </a:prstGeom>
          <a:solidFill>
            <a:srgbClr val="2cb1bc"/>
          </a:solidFill>
          <a:ln w="0">
            <a:noFill/>
          </a:ln>
        </p:spPr>
      </p:sp>
      <p:sp>
        <p:nvSpPr>
          <p:cNvPr id="93" name=""/>
          <p:cNvSpPr txBox="1"/>
          <p:nvPr/>
        </p:nvSpPr>
        <p:spPr>
          <a:xfrm>
            <a:off x="6631200" y="1566000"/>
            <a:ext cx="4780800" cy="73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43b53"/>
                </a:solidFill>
                <a:latin typeface="Arial"/>
              </a:rPr>
              <a:t>UDP/IPv4 over a point-to-point baseline link.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480000" y="2397600"/>
            <a:ext cx="57600" cy="57600"/>
          </a:xfrm>
          <a:prstGeom prst="roundRect">
            <a:avLst/>
          </a:prstGeom>
          <a:solidFill>
            <a:srgbClr val="2cb1bc"/>
          </a:solidFill>
          <a:ln w="0">
            <a:noFill/>
          </a:ln>
        </p:spPr>
      </p:sp>
      <p:sp>
        <p:nvSpPr>
          <p:cNvPr id="95" name=""/>
          <p:cNvSpPr txBox="1"/>
          <p:nvPr/>
        </p:nvSpPr>
        <p:spPr>
          <a:xfrm>
            <a:off x="6631200" y="2322000"/>
            <a:ext cx="4780800" cy="73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43b53"/>
                </a:solidFill>
                <a:latin typeface="Arial"/>
              </a:rPr>
              <a:t>One XR device and one application server.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480000" y="3153600"/>
            <a:ext cx="57600" cy="57600"/>
          </a:xfrm>
          <a:prstGeom prst="roundRect">
            <a:avLst/>
          </a:prstGeom>
          <a:solidFill>
            <a:srgbClr val="2cb1bc"/>
          </a:solidFill>
          <a:ln w="0">
            <a:noFill/>
          </a:ln>
        </p:spPr>
      </p:sp>
      <p:sp>
        <p:nvSpPr>
          <p:cNvPr id="97" name=""/>
          <p:cNvSpPr txBox="1"/>
          <p:nvPr/>
        </p:nvSpPr>
        <p:spPr>
          <a:xfrm>
            <a:off x="6631200" y="3078000"/>
            <a:ext cx="4780800" cy="73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43b53"/>
                </a:solidFill>
                <a:latin typeface="Arial"/>
              </a:rPr>
              <a:t>Fixed pose: position (1,1,1.2), quaternion (0,0,0,1).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6480000" y="3909600"/>
            <a:ext cx="57600" cy="57600"/>
          </a:xfrm>
          <a:prstGeom prst="roundRect">
            <a:avLst/>
          </a:prstGeom>
          <a:solidFill>
            <a:srgbClr val="2cb1bc"/>
          </a:solidFill>
          <a:ln w="0">
            <a:noFill/>
          </a:ln>
        </p:spPr>
      </p:sp>
      <p:sp>
        <p:nvSpPr>
          <p:cNvPr id="99" name=""/>
          <p:cNvSpPr txBox="1"/>
          <p:nvPr/>
        </p:nvSpPr>
        <p:spPr>
          <a:xfrm>
            <a:off x="6631200" y="3834000"/>
            <a:ext cx="4780800" cy="73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43b53"/>
                </a:solidFill>
                <a:latin typeface="Arial"/>
              </a:rPr>
              <a:t>The timestamp changes every sample; motion is not required.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684000" y="5976000"/>
            <a:ext cx="1008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627d98"/>
                </a:solidFill>
                <a:latin typeface="Arial"/>
              </a:rPr>
              <a:t>Source: 3GPP TR 26.926 V18.2.0, §5.9.2 — Pose Uplink Model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02" name=""/>
          <p:cNvSpPr/>
          <p:nvPr/>
        </p:nvSpPr>
        <p:spPr>
          <a:xfrm>
            <a:off x="0" y="0"/>
            <a:ext cx="306000" cy="685800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</p:sp>
      <p:sp>
        <p:nvSpPr>
          <p:cNvPr id="103" name=""/>
          <p:cNvSpPr txBox="1"/>
          <p:nvPr/>
        </p:nvSpPr>
        <p:spPr>
          <a:xfrm>
            <a:off x="612000" y="259200"/>
            <a:ext cx="972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1677b8"/>
                </a:solidFill>
                <a:latin typeface="Arial"/>
              </a:rPr>
              <a:t>IMPLEMENTATION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612000" y="450000"/>
            <a:ext cx="10620000" cy="41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102a43"/>
                </a:solidFill>
                <a:latin typeface="Arial"/>
              </a:rPr>
              <a:t>Topology and 100-byte packet format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612000" y="921600"/>
            <a:ext cx="10800000" cy="9000"/>
          </a:xfrm>
          <a:prstGeom prst="rect">
            <a:avLst/>
          </a:prstGeom>
          <a:solidFill>
            <a:srgbClr val="eaf4fa"/>
          </a:solidFill>
          <a:ln w="0">
            <a:noFill/>
          </a:ln>
        </p:spPr>
      </p:sp>
      <p:sp>
        <p:nvSpPr>
          <p:cNvPr id="106" name=""/>
          <p:cNvSpPr txBox="1"/>
          <p:nvPr/>
        </p:nvSpPr>
        <p:spPr>
          <a:xfrm>
            <a:off x="612000" y="6526800"/>
            <a:ext cx="432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27d98"/>
                </a:solidFill>
                <a:latin typeface="Arial"/>
              </a:rPr>
              <a:t>A2 · ns-3 Setup &amp; Traffic Model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1016000" y="6487200"/>
            <a:ext cx="396000" cy="15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627d98"/>
                </a:solidFill>
                <a:latin typeface="Arial"/>
              </a:rPr>
              <a:t>04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756000" y="1242000"/>
            <a:ext cx="2232000" cy="648000"/>
          </a:xfrm>
          <a:prstGeom prst="rect">
            <a:avLst/>
          </a:prstGeom>
          <a:solidFill>
            <a:srgbClr val="1677b8"/>
          </a:solidFill>
          <a:ln w="10800">
            <a:solidFill>
              <a:srgbClr val="1677b8"/>
            </a:solidFill>
            <a:round/>
          </a:ln>
        </p:spPr>
        <p:txBody>
          <a:bodyPr lIns="95400" rIns="95400" tIns="50400" bIns="50400" anchor="t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XR DEVICE</a:t>
            </a:r>
            <a:endParaRPr b="0" lang="en-US" sz="1800" spc="-1" strike="noStrike">
              <a:latin typeface="Arial"/>
            </a:endParaRPr>
          </a:p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10.1.1.1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3420000" y="1296000"/>
            <a:ext cx="4320000" cy="540000"/>
          </a:xfrm>
          <a:prstGeom prst="rect">
            <a:avLst/>
          </a:prstGeom>
          <a:solidFill>
            <a:srgbClr val="eaf4fa"/>
          </a:solidFill>
          <a:ln w="10800">
            <a:solidFill>
              <a:srgbClr val="eaf4fa"/>
            </a:solidFill>
            <a:round/>
          </a:ln>
        </p:spPr>
        <p:txBody>
          <a:bodyPr lIns="95400" rIns="95400" tIns="50400" bIns="50400" anchor="t">
            <a:noAutofit/>
          </a:bodyPr>
          <a:p>
            <a:pPr algn="ctr">
              <a:buNone/>
            </a:pPr>
            <a:r>
              <a:rPr b="1" lang="en-US" sz="1600" spc="-1" strike="noStrike">
                <a:solidFill>
                  <a:srgbClr val="102a43"/>
                </a:solidFill>
                <a:latin typeface="Arial"/>
              </a:rPr>
              <a:t>UDP/IPv4  →</a:t>
            </a:r>
            <a:endParaRPr b="0" lang="en-US" sz="1600" spc="-1" strike="noStrike">
              <a:latin typeface="Arial"/>
            </a:endParaRPr>
          </a:p>
          <a:p>
            <a:pPr algn="ctr">
              <a:buNone/>
            </a:pPr>
            <a:r>
              <a:rPr b="1" lang="en-US" sz="1600" spc="-1" strike="noStrike">
                <a:solidFill>
                  <a:srgbClr val="102a43"/>
                </a:solidFill>
                <a:latin typeface="Arial"/>
              </a:rPr>
              <a:t>10 Mbps · 1 ms one-way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8460000" y="1242000"/>
            <a:ext cx="2520000" cy="648000"/>
          </a:xfrm>
          <a:prstGeom prst="rect">
            <a:avLst/>
          </a:prstGeom>
          <a:solidFill>
            <a:srgbClr val="2cb1bc"/>
          </a:solidFill>
          <a:ln w="10800">
            <a:solidFill>
              <a:srgbClr val="2cb1bc"/>
            </a:solidFill>
            <a:round/>
          </a:ln>
        </p:spPr>
        <p:txBody>
          <a:bodyPr lIns="95400" rIns="95400" tIns="50400" bIns="50400" anchor="t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SERVER</a:t>
            </a:r>
            <a:endParaRPr b="0" lang="en-US" sz="1800" spc="-1" strike="noStrike">
              <a:latin typeface="Arial"/>
            </a:endParaRPr>
          </a:p>
          <a:p>
            <a:pPr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Arial"/>
              </a:rPr>
              <a:t>10.1.1.2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84000" y="2484000"/>
            <a:ext cx="3960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102a43"/>
                </a:solidFill>
                <a:latin typeface="Arial"/>
              </a:rPr>
              <a:t>100-byte IPv4 packet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684000" y="2898000"/>
            <a:ext cx="1800000" cy="846000"/>
          </a:xfrm>
          <a:prstGeom prst="rect">
            <a:avLst/>
          </a:prstGeom>
          <a:solidFill>
            <a:srgbClr val="102a43"/>
          </a:solidFill>
          <a:ln w="10800">
            <a:solidFill>
              <a:srgbClr val="ffffff"/>
            </a:solidFill>
            <a:round/>
          </a:ln>
        </p:spPr>
        <p:txBody>
          <a:bodyPr lIns="95400" rIns="95400" tIns="50400" bIns="50400" anchor="t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IPv4 header</a:t>
            </a:r>
            <a:endParaRPr b="0" lang="en-US" sz="1500" spc="-1" strike="noStrike">
              <a:latin typeface="Arial"/>
            </a:endParaRPr>
          </a:p>
          <a:p>
            <a:pPr algn="ctr"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20 B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2484000" y="2898000"/>
            <a:ext cx="1080000" cy="846000"/>
          </a:xfrm>
          <a:prstGeom prst="rect">
            <a:avLst/>
          </a:prstGeom>
          <a:solidFill>
            <a:srgbClr val="1677b8"/>
          </a:solidFill>
          <a:ln w="10800">
            <a:solidFill>
              <a:srgbClr val="ffffff"/>
            </a:solidFill>
            <a:round/>
          </a:ln>
        </p:spPr>
        <p:txBody>
          <a:bodyPr lIns="95400" rIns="95400" tIns="50400" bIns="50400" anchor="t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UDP</a:t>
            </a:r>
            <a:endParaRPr b="0" lang="en-US" sz="1500" spc="-1" strike="noStrike">
              <a:latin typeface="Arial"/>
            </a:endParaRPr>
          </a:p>
          <a:p>
            <a:pPr algn="ctr"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8 B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3564000" y="2898000"/>
            <a:ext cx="1548000" cy="846000"/>
          </a:xfrm>
          <a:prstGeom prst="rect">
            <a:avLst/>
          </a:prstGeom>
          <a:solidFill>
            <a:srgbClr val="2cb1bc"/>
          </a:solidFill>
          <a:ln w="10800">
            <a:solidFill>
              <a:srgbClr val="ffffff"/>
            </a:solidFill>
            <a:round/>
          </a:ln>
        </p:spPr>
        <p:txBody>
          <a:bodyPr lIns="95400" rIns="95400" tIns="50400" bIns="50400" anchor="t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Report header</a:t>
            </a:r>
            <a:endParaRPr b="0" lang="en-US" sz="1500" spc="-1" strike="noStrike">
              <a:latin typeface="Arial"/>
            </a:endParaRPr>
          </a:p>
          <a:p>
            <a:pPr algn="ctr"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12 B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5112000" y="2898000"/>
            <a:ext cx="6120000" cy="846000"/>
          </a:xfrm>
          <a:prstGeom prst="rect">
            <a:avLst/>
          </a:prstGeom>
          <a:solidFill>
            <a:srgbClr val="f28c28"/>
          </a:solidFill>
          <a:ln w="10800">
            <a:solidFill>
              <a:srgbClr val="ffffff"/>
            </a:solidFill>
            <a:round/>
          </a:ln>
        </p:spPr>
        <p:txBody>
          <a:bodyPr lIns="95400" rIns="95400" tIns="50400" bIns="50400" anchor="t">
            <a:noAutofit/>
          </a:bodyPr>
          <a:p>
            <a:pPr algn="ctr"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Pose payload</a:t>
            </a:r>
            <a:endParaRPr b="0" lang="en-US" sz="1500" spc="-1" strike="noStrike">
              <a:latin typeface="Arial"/>
            </a:endParaRPr>
          </a:p>
          <a:p>
            <a:pPr algn="ctr"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60 B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684000" y="4014000"/>
            <a:ext cx="10800000" cy="306000"/>
          </a:xfrm>
          <a:prstGeom prst="rect">
            <a:avLst/>
          </a:prstGeom>
          <a:solidFill>
            <a:srgbClr val="f5f8fa"/>
          </a:solidFill>
          <a:ln w="10800">
            <a:solidFill>
              <a:srgbClr val="eaf4fa"/>
            </a:solidFill>
            <a:round/>
          </a:ln>
        </p:spPr>
        <p:txBody>
          <a:bodyPr lIns="95400" rIns="95400" tIns="50400" bIns="50400" anchor="t">
            <a:noAutofit/>
          </a:bodyPr>
          <a:p>
            <a:pPr algn="ctr">
              <a:buNone/>
            </a:pPr>
            <a:r>
              <a:rPr b="0" lang="en-US" sz="1400" spc="-1" strike="noStrike">
                <a:solidFill>
                  <a:srgbClr val="243b53"/>
                </a:solidFill>
                <a:latin typeface="Arial"/>
              </a:rPr>
              <a:t>Pose payload: position 12 B · quaternion 16 B · sample time 8 B · device ID 4 B · reserved 20 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3474000" y="4518000"/>
            <a:ext cx="3960000" cy="21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1300" spc="-1" strike="noStrike">
                <a:solidFill>
                  <a:srgbClr val="2cb1bc"/>
                </a:solidFill>
                <a:latin typeface="Arial"/>
              </a:rPr>
              <a:t>Sequence 4 B + send time 8 B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684000" y="5148000"/>
            <a:ext cx="4932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102a43"/>
                </a:solidFill>
                <a:latin typeface="Arial"/>
              </a:rPr>
              <a:t>Network delay = receive time − send time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6336000" y="5148000"/>
            <a:ext cx="4932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500" spc="-1" strike="noStrike">
                <a:solidFill>
                  <a:srgbClr val="102a43"/>
                </a:solidFill>
                <a:latin typeface="Arial"/>
              </a:rPr>
              <a:t>Pose age = receive time − sample time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684000" y="5688000"/>
            <a:ext cx="10620000" cy="19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627d98"/>
                </a:solidFill>
                <a:latin typeface="Arial"/>
              </a:rPr>
              <a:t>PCAP adds a 2-byte PPP header: captured frame = 102 B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2" name=""/>
          <p:cNvSpPr/>
          <p:nvPr/>
        </p:nvSpPr>
        <p:spPr>
          <a:xfrm>
            <a:off x="0" y="0"/>
            <a:ext cx="306000" cy="685800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</p:sp>
      <p:sp>
        <p:nvSpPr>
          <p:cNvPr id="123" name=""/>
          <p:cNvSpPr txBox="1"/>
          <p:nvPr/>
        </p:nvSpPr>
        <p:spPr>
          <a:xfrm>
            <a:off x="612000" y="259200"/>
            <a:ext cx="972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1677b8"/>
                </a:solidFill>
                <a:latin typeface="Arial"/>
              </a:rPr>
              <a:t>RESULTS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612000" y="450000"/>
            <a:ext cx="10620000" cy="41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102a43"/>
                </a:solidFill>
                <a:latin typeface="Arial"/>
              </a:rPr>
              <a:t>Traffic-model verification: PMF and CDF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12000" y="921600"/>
            <a:ext cx="10800000" cy="9000"/>
          </a:xfrm>
          <a:prstGeom prst="rect">
            <a:avLst/>
          </a:prstGeom>
          <a:solidFill>
            <a:srgbClr val="eaf4fa"/>
          </a:solidFill>
          <a:ln w="0">
            <a:noFill/>
          </a:ln>
        </p:spPr>
      </p:sp>
      <p:sp>
        <p:nvSpPr>
          <p:cNvPr id="126" name=""/>
          <p:cNvSpPr txBox="1"/>
          <p:nvPr/>
        </p:nvSpPr>
        <p:spPr>
          <a:xfrm>
            <a:off x="612000" y="6526800"/>
            <a:ext cx="432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27d98"/>
                </a:solidFill>
                <a:latin typeface="Arial"/>
              </a:rPr>
              <a:t>A2 · ns-3 Setup &amp; Traffic Model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1016000" y="6487200"/>
            <a:ext cx="396000" cy="15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627d98"/>
                </a:solidFill>
                <a:latin typeface="Arial"/>
              </a:rPr>
              <a:t>05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1"/>
          <a:stretch/>
        </p:blipFill>
        <p:spPr>
          <a:xfrm>
            <a:off x="648000" y="1080000"/>
            <a:ext cx="10800000" cy="48960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 txBox="1"/>
          <p:nvPr/>
        </p:nvSpPr>
        <p:spPr>
          <a:xfrm>
            <a:off x="792000" y="5760000"/>
            <a:ext cx="2700000" cy="198000"/>
          </a:xfrm>
          <a:prstGeom prst="rect">
            <a:avLst/>
          </a:prstGeom>
          <a:solidFill>
            <a:srgbClr val="ffffff"/>
          </a:solidFill>
          <a:ln w="10800">
            <a:solidFill>
              <a:srgbClr val="eaf4fa"/>
            </a:solidFill>
            <a:round/>
          </a:ln>
        </p:spPr>
        <p:txBody>
          <a:bodyPr lIns="95400" rIns="95400" tIns="50400" bIns="50400" anchor="t">
            <a:noAutofit/>
          </a:bodyPr>
          <a:p>
            <a:pPr algn="ctr">
              <a:buNone/>
            </a:pPr>
            <a:r>
              <a:rPr b="1" lang="en-US" sz="1300" spc="-1" strike="noStrike">
                <a:solidFill>
                  <a:srgbClr val="26856a"/>
                </a:solidFill>
                <a:latin typeface="Arial"/>
              </a:rPr>
              <a:t>P(size = 100 B) = 1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8208000" y="5760000"/>
            <a:ext cx="3060000" cy="198000"/>
          </a:xfrm>
          <a:prstGeom prst="rect">
            <a:avLst/>
          </a:prstGeom>
          <a:solidFill>
            <a:srgbClr val="ffffff"/>
          </a:solidFill>
          <a:ln w="10800">
            <a:solidFill>
              <a:srgbClr val="eaf4fa"/>
            </a:solidFill>
            <a:round/>
          </a:ln>
        </p:spPr>
        <p:txBody>
          <a:bodyPr lIns="95400" rIns="95400" tIns="50400" bIns="50400" anchor="t">
            <a:noAutofit/>
          </a:bodyPr>
          <a:p>
            <a:pPr algn="ctr">
              <a:buNone/>
            </a:pPr>
            <a:r>
              <a:rPr b="1" lang="en-US" sz="1300" spc="-1" strike="noStrike">
                <a:solidFill>
                  <a:srgbClr val="26856a"/>
                </a:solidFill>
                <a:latin typeface="Arial"/>
              </a:rPr>
              <a:t>P(inter-arrival = 10 ms) = 1</a:t>
            </a:r>
            <a:endParaRPr b="0" lang="en-US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32" name=""/>
          <p:cNvSpPr/>
          <p:nvPr/>
        </p:nvSpPr>
        <p:spPr>
          <a:xfrm>
            <a:off x="0" y="0"/>
            <a:ext cx="306000" cy="685800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</p:sp>
      <p:sp>
        <p:nvSpPr>
          <p:cNvPr id="133" name=""/>
          <p:cNvSpPr txBox="1"/>
          <p:nvPr/>
        </p:nvSpPr>
        <p:spPr>
          <a:xfrm>
            <a:off x="612000" y="259200"/>
            <a:ext cx="972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1677b8"/>
                </a:solidFill>
                <a:latin typeface="Arial"/>
              </a:rPr>
              <a:t>RESULTS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612000" y="450000"/>
            <a:ext cx="10620000" cy="41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102a43"/>
                </a:solidFill>
                <a:latin typeface="Arial"/>
              </a:rPr>
              <a:t>Evidence from my ns-3 run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612000" y="921600"/>
            <a:ext cx="10800000" cy="9000"/>
          </a:xfrm>
          <a:prstGeom prst="rect">
            <a:avLst/>
          </a:prstGeom>
          <a:solidFill>
            <a:srgbClr val="eaf4fa"/>
          </a:solidFill>
          <a:ln w="0">
            <a:noFill/>
          </a:ln>
        </p:spPr>
      </p:sp>
      <p:sp>
        <p:nvSpPr>
          <p:cNvPr id="136" name=""/>
          <p:cNvSpPr txBox="1"/>
          <p:nvPr/>
        </p:nvSpPr>
        <p:spPr>
          <a:xfrm>
            <a:off x="612000" y="6526800"/>
            <a:ext cx="432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27d98"/>
                </a:solidFill>
                <a:latin typeface="Arial"/>
              </a:rPr>
              <a:t>A2 · ns-3 Setup &amp; Traffic Model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1016000" y="6487200"/>
            <a:ext cx="396000" cy="15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627d98"/>
                </a:solidFill>
                <a:latin typeface="Arial"/>
              </a:rPr>
              <a:t>06</a:t>
            </a:r>
            <a:endParaRPr b="0" lang="en-US" sz="1000" spc="-1" strike="noStrike">
              <a:latin typeface="Arial"/>
            </a:endParaRPr>
          </a:p>
        </p:txBody>
      </p:sp>
      <p:pic>
        <p:nvPicPr>
          <p:cNvPr id="138" name="" descr=""/>
          <p:cNvPicPr/>
          <p:nvPr/>
        </p:nvPicPr>
        <p:blipFill>
          <a:blip r:embed="rId1"/>
          <a:stretch/>
        </p:blipFill>
        <p:spPr>
          <a:xfrm>
            <a:off x="558000" y="1260000"/>
            <a:ext cx="11160000" cy="3348000"/>
          </a:xfrm>
          <a:prstGeom prst="rect">
            <a:avLst/>
          </a:prstGeom>
          <a:ln w="0">
            <a:noFill/>
          </a:ln>
        </p:spPr>
      </p:pic>
      <p:sp>
        <p:nvSpPr>
          <p:cNvPr id="139" name=""/>
          <p:cNvSpPr/>
          <p:nvPr/>
        </p:nvSpPr>
        <p:spPr>
          <a:xfrm>
            <a:off x="684000" y="4914000"/>
            <a:ext cx="3240000" cy="792000"/>
          </a:xfrm>
          <a:prstGeom prst="roundRect">
            <a:avLst/>
          </a:prstGeom>
          <a:solidFill>
            <a:srgbClr val="f5f8fa"/>
          </a:solidFill>
          <a:ln w="10800">
            <a:solidFill>
              <a:srgbClr val="eaf4fa"/>
            </a:solidFill>
            <a:round/>
          </a:ln>
        </p:spPr>
      </p:sp>
      <p:sp>
        <p:nvSpPr>
          <p:cNvPr id="140" name=""/>
          <p:cNvSpPr/>
          <p:nvPr/>
        </p:nvSpPr>
        <p:spPr>
          <a:xfrm>
            <a:off x="684000" y="4914000"/>
            <a:ext cx="61200" cy="792000"/>
          </a:xfrm>
          <a:prstGeom prst="roundRect">
            <a:avLst/>
          </a:prstGeom>
          <a:solidFill>
            <a:srgbClr val="1677b8"/>
          </a:solidFill>
          <a:ln w="0">
            <a:noFill/>
          </a:ln>
        </p:spPr>
      </p:sp>
      <p:sp>
        <p:nvSpPr>
          <p:cNvPr id="141" name=""/>
          <p:cNvSpPr txBox="1"/>
          <p:nvPr/>
        </p:nvSpPr>
        <p:spPr>
          <a:xfrm>
            <a:off x="871200" y="5050800"/>
            <a:ext cx="2970000" cy="25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500" spc="-1" strike="noStrike">
                <a:solidFill>
                  <a:srgbClr val="102a43"/>
                </a:solidFill>
                <a:latin typeface="Arial"/>
              </a:rPr>
              <a:t>80 kbps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871200" y="5338800"/>
            <a:ext cx="2970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627d98"/>
                </a:solidFill>
                <a:latin typeface="Arial"/>
              </a:rPr>
              <a:t>Measured IP offered rate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4428000" y="4914000"/>
            <a:ext cx="3240000" cy="792000"/>
          </a:xfrm>
          <a:prstGeom prst="roundRect">
            <a:avLst/>
          </a:prstGeom>
          <a:solidFill>
            <a:srgbClr val="f5f8fa"/>
          </a:solidFill>
          <a:ln w="10800">
            <a:solidFill>
              <a:srgbClr val="eaf4fa"/>
            </a:solidFill>
            <a:round/>
          </a:ln>
        </p:spPr>
      </p:sp>
      <p:sp>
        <p:nvSpPr>
          <p:cNvPr id="144" name=""/>
          <p:cNvSpPr/>
          <p:nvPr/>
        </p:nvSpPr>
        <p:spPr>
          <a:xfrm>
            <a:off x="4428000" y="4914000"/>
            <a:ext cx="61200" cy="792000"/>
          </a:xfrm>
          <a:prstGeom prst="roundRect">
            <a:avLst/>
          </a:prstGeom>
          <a:solidFill>
            <a:srgbClr val="2cb1bc"/>
          </a:solidFill>
          <a:ln w="0">
            <a:noFill/>
          </a:ln>
        </p:spPr>
      </p:sp>
      <p:sp>
        <p:nvSpPr>
          <p:cNvPr id="145" name=""/>
          <p:cNvSpPr txBox="1"/>
          <p:nvPr/>
        </p:nvSpPr>
        <p:spPr>
          <a:xfrm>
            <a:off x="4615200" y="5050800"/>
            <a:ext cx="2970000" cy="25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500" spc="-1" strike="noStrike">
                <a:solidFill>
                  <a:srgbClr val="102a43"/>
                </a:solidFill>
                <a:latin typeface="Arial"/>
              </a:rPr>
              <a:t>1.0816 ms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4615200" y="5338800"/>
            <a:ext cx="2970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627d98"/>
                </a:solidFill>
                <a:latin typeface="Arial"/>
              </a:rPr>
              <a:t>Mean and maximum delay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8172000" y="4914000"/>
            <a:ext cx="3096000" cy="792000"/>
          </a:xfrm>
          <a:prstGeom prst="roundRect">
            <a:avLst/>
          </a:prstGeom>
          <a:solidFill>
            <a:srgbClr val="f5f8fa"/>
          </a:solidFill>
          <a:ln w="10800">
            <a:solidFill>
              <a:srgbClr val="eaf4fa"/>
            </a:solidFill>
            <a:round/>
          </a:ln>
        </p:spPr>
      </p:sp>
      <p:sp>
        <p:nvSpPr>
          <p:cNvPr id="148" name=""/>
          <p:cNvSpPr/>
          <p:nvPr/>
        </p:nvSpPr>
        <p:spPr>
          <a:xfrm>
            <a:off x="8172000" y="4914000"/>
            <a:ext cx="61200" cy="792000"/>
          </a:xfrm>
          <a:prstGeom prst="roundRect">
            <a:avLst/>
          </a:prstGeom>
          <a:solidFill>
            <a:srgbClr val="26856a"/>
          </a:solidFill>
          <a:ln w="0">
            <a:noFill/>
          </a:ln>
        </p:spPr>
      </p:sp>
      <p:sp>
        <p:nvSpPr>
          <p:cNvPr id="149" name=""/>
          <p:cNvSpPr txBox="1"/>
          <p:nvPr/>
        </p:nvSpPr>
        <p:spPr>
          <a:xfrm>
            <a:off x="8359200" y="5050800"/>
            <a:ext cx="2826000" cy="25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500" spc="-1" strike="noStrike">
                <a:solidFill>
                  <a:srgbClr val="102a43"/>
                </a:solidFill>
                <a:latin typeface="Arial"/>
              </a:rPr>
              <a:t>100%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8359200" y="5338800"/>
            <a:ext cx="2826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627d98"/>
                </a:solidFill>
                <a:latin typeface="Arial"/>
              </a:rPr>
              <a:t>Packets meeting ≤10 ms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2" name=""/>
          <p:cNvSpPr/>
          <p:nvPr/>
        </p:nvSpPr>
        <p:spPr>
          <a:xfrm>
            <a:off x="0" y="0"/>
            <a:ext cx="306000" cy="685800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</p:sp>
      <p:sp>
        <p:nvSpPr>
          <p:cNvPr id="153" name=""/>
          <p:cNvSpPr txBox="1"/>
          <p:nvPr/>
        </p:nvSpPr>
        <p:spPr>
          <a:xfrm>
            <a:off x="612000" y="259200"/>
            <a:ext cx="972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1677b8"/>
                </a:solidFill>
                <a:latin typeface="Arial"/>
              </a:rPr>
              <a:t>WIRESHARK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612000" y="450000"/>
            <a:ext cx="10620000" cy="41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102a43"/>
                </a:solidFill>
                <a:latin typeface="Arial"/>
              </a:rPr>
              <a:t>PCAP proof and packet accounting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12000" y="921600"/>
            <a:ext cx="10800000" cy="9000"/>
          </a:xfrm>
          <a:prstGeom prst="rect">
            <a:avLst/>
          </a:prstGeom>
          <a:solidFill>
            <a:srgbClr val="eaf4fa"/>
          </a:solidFill>
          <a:ln w="0">
            <a:noFill/>
          </a:ln>
        </p:spPr>
      </p:sp>
      <p:sp>
        <p:nvSpPr>
          <p:cNvPr id="156" name=""/>
          <p:cNvSpPr txBox="1"/>
          <p:nvPr/>
        </p:nvSpPr>
        <p:spPr>
          <a:xfrm>
            <a:off x="612000" y="6526800"/>
            <a:ext cx="432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27d98"/>
                </a:solidFill>
                <a:latin typeface="Arial"/>
              </a:rPr>
              <a:t>A2 · ns-3 Setup &amp; Traffic Model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11016000" y="6487200"/>
            <a:ext cx="396000" cy="15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627d98"/>
                </a:solidFill>
                <a:latin typeface="Arial"/>
              </a:rPr>
              <a:t>07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48000" y="1242000"/>
            <a:ext cx="10800000" cy="1152000"/>
          </a:xfrm>
          <a:prstGeom prst="rect">
            <a:avLst/>
          </a:prstGeom>
          <a:solidFill>
            <a:srgbClr val="102a43"/>
          </a:solidFill>
          <a:ln w="10800">
            <a:solidFill>
              <a:srgbClr val="102a43"/>
            </a:solidFill>
            <a:round/>
          </a:ln>
        </p:spPr>
        <p:txBody>
          <a:bodyPr lIns="95400" rIns="95400" tIns="50400" bIns="50400" anchor="t">
            <a:noAutofit/>
          </a:bodyPr>
          <a:p>
            <a:r>
              <a:rPr b="0" lang="en-US" sz="1300" spc="-1" strike="noStrike">
                <a:solidFill>
                  <a:srgbClr val="ffffff"/>
                </a:solidFill>
                <a:latin typeface="Courier New"/>
              </a:rPr>
              <a:t>1.000000  IP (0x0021), length 102: 10.1.1.1 → 10.1.1.2  UDP, length 72</a:t>
            </a:r>
            <a:endParaRPr b="0" lang="en-US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ffffff"/>
                </a:solidFill>
                <a:latin typeface="Courier New"/>
              </a:rPr>
              <a:t>1.010000  IP (0x0021), length 102: 10.1.1.1 → 10.1.1.2  UDP, length 72</a:t>
            </a:r>
            <a:endParaRPr b="0" lang="en-US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ffffff"/>
                </a:solidFill>
                <a:latin typeface="Courier New"/>
              </a:rPr>
              <a:t>1.020000  IP (0x0021), length 102: 10.1.1.1 → 10.1.1.2  UDP, length 72</a:t>
            </a:r>
            <a:endParaRPr b="0" lang="en-US" sz="1300" spc="-1" strike="noStrike"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84000" y="2736000"/>
            <a:ext cx="4680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102a43"/>
                </a:solidFill>
                <a:latin typeface="Arial"/>
              </a:rPr>
              <a:t>What to verify in Wireshark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684000" y="3135600"/>
            <a:ext cx="57600" cy="57600"/>
          </a:xfrm>
          <a:prstGeom prst="roundRect">
            <a:avLst/>
          </a:prstGeom>
          <a:solidFill>
            <a:srgbClr val="1677b8"/>
          </a:solidFill>
          <a:ln w="0">
            <a:noFill/>
          </a:ln>
        </p:spPr>
      </p:sp>
      <p:sp>
        <p:nvSpPr>
          <p:cNvPr id="161" name=""/>
          <p:cNvSpPr txBox="1"/>
          <p:nvPr/>
        </p:nvSpPr>
        <p:spPr>
          <a:xfrm>
            <a:off x="835200" y="3060000"/>
            <a:ext cx="4960800" cy="50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43b53"/>
                </a:solidFill>
                <a:latin typeface="Arial"/>
              </a:rPr>
              <a:t>Filter: udp.port == 5000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684000" y="3657600"/>
            <a:ext cx="57600" cy="57600"/>
          </a:xfrm>
          <a:prstGeom prst="roundRect">
            <a:avLst/>
          </a:prstGeom>
          <a:solidFill>
            <a:srgbClr val="1677b8"/>
          </a:solidFill>
          <a:ln w="0">
            <a:noFill/>
          </a:ln>
        </p:spPr>
      </p:sp>
      <p:sp>
        <p:nvSpPr>
          <p:cNvPr id="163" name=""/>
          <p:cNvSpPr txBox="1"/>
          <p:nvPr/>
        </p:nvSpPr>
        <p:spPr>
          <a:xfrm>
            <a:off x="835200" y="3582000"/>
            <a:ext cx="4960800" cy="50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43b53"/>
                </a:solidFill>
                <a:latin typeface="Arial"/>
              </a:rPr>
              <a:t>Time delta between packets: 0.010 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684000" y="4179600"/>
            <a:ext cx="57600" cy="57600"/>
          </a:xfrm>
          <a:prstGeom prst="roundRect">
            <a:avLst/>
          </a:prstGeom>
          <a:solidFill>
            <a:srgbClr val="1677b8"/>
          </a:solidFill>
          <a:ln w="0">
            <a:noFill/>
          </a:ln>
        </p:spPr>
      </p:sp>
      <p:sp>
        <p:nvSpPr>
          <p:cNvPr id="165" name=""/>
          <p:cNvSpPr txBox="1"/>
          <p:nvPr/>
        </p:nvSpPr>
        <p:spPr>
          <a:xfrm>
            <a:off x="835200" y="4104000"/>
            <a:ext cx="4960800" cy="50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43b53"/>
                </a:solidFill>
                <a:latin typeface="Arial"/>
              </a:rPr>
              <a:t>IPv4 total length: 100 bytes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684000" y="4701600"/>
            <a:ext cx="57600" cy="57600"/>
          </a:xfrm>
          <a:prstGeom prst="roundRect">
            <a:avLst/>
          </a:prstGeom>
          <a:solidFill>
            <a:srgbClr val="1677b8"/>
          </a:solidFill>
          <a:ln w="0">
            <a:noFill/>
          </a:ln>
        </p:spPr>
      </p:sp>
      <p:sp>
        <p:nvSpPr>
          <p:cNvPr id="167" name=""/>
          <p:cNvSpPr txBox="1"/>
          <p:nvPr/>
        </p:nvSpPr>
        <p:spPr>
          <a:xfrm>
            <a:off x="835200" y="4626000"/>
            <a:ext cx="4960800" cy="500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600" spc="-1" strike="noStrike">
                <a:solidFill>
                  <a:srgbClr val="243b53"/>
                </a:solidFill>
                <a:latin typeface="Arial"/>
              </a:rPr>
              <a:t>UDP length: 80 bytes; UDP payload: 72 bytes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6516000" y="2736000"/>
            <a:ext cx="4680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102a43"/>
                </a:solidFill>
                <a:latin typeface="Arial"/>
              </a:rPr>
              <a:t>Why does PCAP show 102 B?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6660000" y="3168000"/>
            <a:ext cx="1260000" cy="648000"/>
          </a:xfrm>
          <a:prstGeom prst="rect">
            <a:avLst/>
          </a:prstGeom>
          <a:solidFill>
            <a:srgbClr val="2cb1bc"/>
          </a:solidFill>
          <a:ln w="10800">
            <a:solidFill>
              <a:srgbClr val="2cb1bc"/>
            </a:solidFill>
            <a:round/>
          </a:ln>
        </p:spPr>
        <p:txBody>
          <a:bodyPr lIns="95400" rIns="95400" tIns="50400" bIns="50400" anchor="t">
            <a:noAutofit/>
          </a:bodyPr>
          <a:p>
            <a:pPr algn="ctr"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2 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7956000" y="3348000"/>
            <a:ext cx="432000" cy="252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2400" spc="-1" strike="noStrike">
                <a:solidFill>
                  <a:srgbClr val="102a43"/>
                </a:solidFill>
                <a:latin typeface="Arial"/>
              </a:rPr>
              <a:t>+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8424000" y="3168000"/>
            <a:ext cx="1800000" cy="648000"/>
          </a:xfrm>
          <a:prstGeom prst="rect">
            <a:avLst/>
          </a:prstGeom>
          <a:solidFill>
            <a:srgbClr val="1677b8"/>
          </a:solidFill>
          <a:ln w="10800">
            <a:solidFill>
              <a:srgbClr val="1677b8"/>
            </a:solidFill>
            <a:round/>
          </a:ln>
        </p:spPr>
        <p:txBody>
          <a:bodyPr lIns="95400" rIns="95400" tIns="50400" bIns="50400" anchor="t">
            <a:noAutofit/>
          </a:bodyPr>
          <a:p>
            <a:pPr algn="ctr"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100 B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6660000" y="3906000"/>
            <a:ext cx="126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627d98"/>
                </a:solidFill>
                <a:latin typeface="Arial"/>
              </a:rPr>
              <a:t>PPP header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8424000" y="3906000"/>
            <a:ext cx="180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1200" spc="-1" strike="noStrike">
                <a:solidFill>
                  <a:srgbClr val="627d98"/>
                </a:solidFill>
                <a:latin typeface="Arial"/>
              </a:rPr>
              <a:t>IPv4 packet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6660000" y="4500000"/>
            <a:ext cx="3600000" cy="252000"/>
          </a:xfrm>
          <a:prstGeom prst="rect">
            <a:avLst/>
          </a:prstGeom>
          <a:solidFill>
            <a:srgbClr val="f5f8fa"/>
          </a:solidFill>
          <a:ln w="10800">
            <a:solidFill>
              <a:srgbClr val="eaf4fa"/>
            </a:solidFill>
            <a:round/>
          </a:ln>
        </p:spPr>
        <p:txBody>
          <a:bodyPr lIns="95400" rIns="95400" tIns="50400" bIns="50400" anchor="t">
            <a:noAutofit/>
          </a:bodyPr>
          <a:p>
            <a:pPr algn="ctr">
              <a:buNone/>
            </a:pPr>
            <a:r>
              <a:rPr b="1" lang="en-US" sz="1800" spc="-1" strike="noStrike">
                <a:solidFill>
                  <a:srgbClr val="26856a"/>
                </a:solidFill>
                <a:latin typeface="Arial"/>
              </a:rPr>
              <a:t>= 102-byte captured frame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6" name=""/>
          <p:cNvSpPr/>
          <p:nvPr/>
        </p:nvSpPr>
        <p:spPr>
          <a:xfrm>
            <a:off x="0" y="0"/>
            <a:ext cx="306000" cy="685800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</p:sp>
      <p:sp>
        <p:nvSpPr>
          <p:cNvPr id="177" name=""/>
          <p:cNvSpPr txBox="1"/>
          <p:nvPr/>
        </p:nvSpPr>
        <p:spPr>
          <a:xfrm>
            <a:off x="612000" y="259200"/>
            <a:ext cx="9720000" cy="1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1677b8"/>
                </a:solidFill>
                <a:latin typeface="Arial"/>
              </a:rPr>
              <a:t>TAKEAWAYS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612000" y="450000"/>
            <a:ext cx="10620000" cy="41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600" spc="-1" strike="noStrike">
                <a:solidFill>
                  <a:srgbClr val="102a43"/>
                </a:solidFill>
                <a:latin typeface="Arial"/>
              </a:rPr>
              <a:t>Conclusion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612000" y="921600"/>
            <a:ext cx="10800000" cy="9000"/>
          </a:xfrm>
          <a:prstGeom prst="rect">
            <a:avLst/>
          </a:prstGeom>
          <a:solidFill>
            <a:srgbClr val="eaf4fa"/>
          </a:solidFill>
          <a:ln w="0">
            <a:noFill/>
          </a:ln>
        </p:spPr>
      </p:sp>
      <p:sp>
        <p:nvSpPr>
          <p:cNvPr id="180" name=""/>
          <p:cNvSpPr txBox="1"/>
          <p:nvPr/>
        </p:nvSpPr>
        <p:spPr>
          <a:xfrm>
            <a:off x="612000" y="6526800"/>
            <a:ext cx="4320000" cy="12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900" spc="-1" strike="noStrike">
                <a:solidFill>
                  <a:srgbClr val="627d98"/>
                </a:solidFill>
                <a:latin typeface="Arial"/>
              </a:rPr>
              <a:t>A2 · ns-3 Setup &amp; Traffic Model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1016000" y="6487200"/>
            <a:ext cx="396000" cy="15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1000" spc="-1" strike="noStrike">
                <a:solidFill>
                  <a:srgbClr val="627d98"/>
                </a:solidFill>
                <a:latin typeface="Arial"/>
              </a:rPr>
              <a:t>08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684000" y="1188000"/>
            <a:ext cx="10620000" cy="32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300" spc="-1" strike="noStrike">
                <a:solidFill>
                  <a:srgbClr val="102a43"/>
                </a:solidFill>
                <a:latin typeface="Arial"/>
              </a:rPr>
              <a:t>The implemented traffic model matches the configured 3GPP baseline.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684000" y="1872000"/>
            <a:ext cx="3240000" cy="954000"/>
          </a:xfrm>
          <a:prstGeom prst="roundRect">
            <a:avLst/>
          </a:prstGeom>
          <a:solidFill>
            <a:srgbClr val="f5f8fa"/>
          </a:solidFill>
          <a:ln w="10800">
            <a:solidFill>
              <a:srgbClr val="eaf4fa"/>
            </a:solidFill>
            <a:round/>
          </a:ln>
        </p:spPr>
      </p:sp>
      <p:sp>
        <p:nvSpPr>
          <p:cNvPr id="184" name=""/>
          <p:cNvSpPr/>
          <p:nvPr/>
        </p:nvSpPr>
        <p:spPr>
          <a:xfrm>
            <a:off x="684000" y="1872000"/>
            <a:ext cx="61200" cy="954000"/>
          </a:xfrm>
          <a:prstGeom prst="roundRect">
            <a:avLst/>
          </a:prstGeom>
          <a:solidFill>
            <a:srgbClr val="1677b8"/>
          </a:solidFill>
          <a:ln w="0">
            <a:noFill/>
          </a:ln>
        </p:spPr>
      </p:sp>
      <p:sp>
        <p:nvSpPr>
          <p:cNvPr id="185" name=""/>
          <p:cNvSpPr txBox="1"/>
          <p:nvPr/>
        </p:nvSpPr>
        <p:spPr>
          <a:xfrm>
            <a:off x="871200" y="2008800"/>
            <a:ext cx="2970000" cy="25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500" spc="-1" strike="noStrike">
                <a:solidFill>
                  <a:srgbClr val="102a43"/>
                </a:solidFill>
                <a:latin typeface="Arial"/>
              </a:rPr>
              <a:t>6,000 / 6,000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871200" y="2296800"/>
            <a:ext cx="2970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627d98"/>
                </a:solidFill>
                <a:latin typeface="Arial"/>
              </a:rPr>
              <a:t>Packets sent / received · 0% loss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4428000" y="1872000"/>
            <a:ext cx="3240000" cy="954000"/>
          </a:xfrm>
          <a:prstGeom prst="roundRect">
            <a:avLst/>
          </a:prstGeom>
          <a:solidFill>
            <a:srgbClr val="f5f8fa"/>
          </a:solidFill>
          <a:ln w="10800">
            <a:solidFill>
              <a:srgbClr val="eaf4fa"/>
            </a:solidFill>
            <a:round/>
          </a:ln>
        </p:spPr>
      </p:sp>
      <p:sp>
        <p:nvSpPr>
          <p:cNvPr id="188" name=""/>
          <p:cNvSpPr/>
          <p:nvPr/>
        </p:nvSpPr>
        <p:spPr>
          <a:xfrm>
            <a:off x="4428000" y="1872000"/>
            <a:ext cx="61200" cy="954000"/>
          </a:xfrm>
          <a:prstGeom prst="round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189" name=""/>
          <p:cNvSpPr txBox="1"/>
          <p:nvPr/>
        </p:nvSpPr>
        <p:spPr>
          <a:xfrm>
            <a:off x="4615200" y="2008800"/>
            <a:ext cx="2970000" cy="25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500" spc="-1" strike="noStrike">
                <a:solidFill>
                  <a:srgbClr val="102a43"/>
                </a:solidFill>
                <a:latin typeface="Arial"/>
              </a:rPr>
              <a:t>100 B · 10 ms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4615200" y="2296800"/>
            <a:ext cx="2970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627d98"/>
                </a:solidFill>
                <a:latin typeface="Arial"/>
              </a:rPr>
              <a:t>Deterministic size and reporting period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8172000" y="1872000"/>
            <a:ext cx="3096000" cy="954000"/>
          </a:xfrm>
          <a:prstGeom prst="roundRect">
            <a:avLst/>
          </a:prstGeom>
          <a:solidFill>
            <a:srgbClr val="f5f8fa"/>
          </a:solidFill>
          <a:ln w="10800">
            <a:solidFill>
              <a:srgbClr val="eaf4fa"/>
            </a:solidFill>
            <a:round/>
          </a:ln>
        </p:spPr>
      </p:sp>
      <p:sp>
        <p:nvSpPr>
          <p:cNvPr id="192" name=""/>
          <p:cNvSpPr/>
          <p:nvPr/>
        </p:nvSpPr>
        <p:spPr>
          <a:xfrm>
            <a:off x="8172000" y="1872000"/>
            <a:ext cx="61200" cy="954000"/>
          </a:xfrm>
          <a:prstGeom prst="roundRect">
            <a:avLst/>
          </a:prstGeom>
          <a:solidFill>
            <a:srgbClr val="26856a"/>
          </a:solidFill>
          <a:ln w="0">
            <a:noFill/>
          </a:ln>
        </p:spPr>
      </p:sp>
      <p:sp>
        <p:nvSpPr>
          <p:cNvPr id="193" name=""/>
          <p:cNvSpPr txBox="1"/>
          <p:nvPr/>
        </p:nvSpPr>
        <p:spPr>
          <a:xfrm>
            <a:off x="8359200" y="2008800"/>
            <a:ext cx="2826000" cy="25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500" spc="-1" strike="noStrike">
                <a:solidFill>
                  <a:srgbClr val="102a43"/>
                </a:solidFill>
                <a:latin typeface="Arial"/>
              </a:rPr>
              <a:t>1.0816 ms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8359200" y="2296800"/>
            <a:ext cx="2826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627d98"/>
                </a:solidFill>
                <a:latin typeface="Arial"/>
              </a:rPr>
              <a:t>Well below the 10 ms latency target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684000" y="3384000"/>
            <a:ext cx="2340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102a43"/>
                </a:solidFill>
                <a:latin typeface="Arial"/>
              </a:rPr>
              <a:t>Why UDP?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684000" y="3690000"/>
            <a:ext cx="6660000" cy="792000"/>
          </a:xfrm>
          <a:prstGeom prst="rect">
            <a:avLst/>
          </a:prstGeom>
          <a:solidFill>
            <a:srgbClr val="f5f8fa"/>
          </a:solidFill>
          <a:ln w="10800">
            <a:solidFill>
              <a:srgbClr val="eaf4fa"/>
            </a:solidFill>
            <a:round/>
          </a:ln>
        </p:spPr>
        <p:txBody>
          <a:bodyPr lIns="95400" rIns="95400" tIns="50400" bIns="50400" anchor="t">
            <a:noAutofit/>
          </a:bodyPr>
          <a:p>
            <a:r>
              <a:rPr b="0" lang="en-US" sz="1600" spc="-1" strike="noStrike">
                <a:solidFill>
                  <a:srgbClr val="243b53"/>
                </a:solidFill>
                <a:latin typeface="Arial"/>
              </a:rPr>
              <a:t>Pose updates become stale quickly. UDP avoids retransmission, acknowledgements, and head-of-line blocking; the next fresh pose is more useful than a delayed old pose.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7992000" y="3384000"/>
            <a:ext cx="2340000" cy="23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900" spc="-1" strike="noStrike">
                <a:solidFill>
                  <a:srgbClr val="102a43"/>
                </a:solidFill>
                <a:latin typeface="Arial"/>
              </a:rPr>
              <a:t>Next step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7992000" y="3690000"/>
            <a:ext cx="3240000" cy="792000"/>
          </a:xfrm>
          <a:prstGeom prst="rect">
            <a:avLst/>
          </a:prstGeom>
          <a:solidFill>
            <a:srgbClr val="eaf4fa"/>
          </a:solidFill>
          <a:ln w="10800">
            <a:solidFill>
              <a:srgbClr val="eaf4fa"/>
            </a:solidFill>
            <a:round/>
          </a:ln>
        </p:spPr>
        <p:txBody>
          <a:bodyPr lIns="95400" rIns="95400" tIns="50400" bIns="50400" anchor="t">
            <a:noAutofit/>
          </a:bodyPr>
          <a:p>
            <a:r>
              <a:rPr b="0" lang="en-US" sz="1600" spc="-1" strike="noStrike">
                <a:solidFill>
                  <a:srgbClr val="243b53"/>
                </a:solidFill>
                <a:latin typeface="Arial"/>
              </a:rPr>
              <a:t>Add movement, wireless loss, jitter, or congestion only after the baseline traffic model is verified.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84000" y="5436000"/>
            <a:ext cx="10620000" cy="3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buNone/>
            </a:pPr>
            <a:r>
              <a:rPr b="1" lang="en-US" sz="2700" spc="-1" strike="noStrike">
                <a:solidFill>
                  <a:srgbClr val="2cb1bc"/>
                </a:solidFill>
                <a:latin typeface="Arial"/>
              </a:rPr>
              <a:t>Questions?</a:t>
            </a:r>
            <a:endParaRPr b="0" lang="en-US" sz="2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2026-10-07T10:49:11Z</dcterms:created>
  <dc:creator/>
  <dc:description/>
  <dc:language>en-US</dc:language>
  <cp:lastModifiedBy/>
  <dcterms:modified xsi:type="dcterms:W3CDTF">2026-10-07T10:49:11Z</dcterms:modified>
  <cp:revision>1</cp:revision>
  <dc:subject/>
  <dc:title/>
</cp:coreProperties>
</file>